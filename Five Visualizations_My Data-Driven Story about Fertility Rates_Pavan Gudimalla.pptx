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61" r:id="rId3"/>
    <p:sldId id="258" r:id="rId4"/>
    <p:sldId id="259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FBA6-9789-C578-ABC0-B894F5F13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51573-F5B3-148A-F955-0A84DB840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79091-C776-B593-1BC3-BAB65657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4B71F-8527-78AD-3318-1176D44A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3FDA1-A202-AB45-9C0C-AF8BC3A1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4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AF36-35A2-1EFE-C303-902FEEC2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C52BF-7937-D342-959F-2AA46029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DF8CA-BBD2-67A8-5A12-EA6E2DB03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B1806-3C18-E6AA-CA45-D0DF2CE8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00A66-B8D9-CA1C-A491-8DFD52BF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1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EF38-78B2-5858-298F-0A53D56A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1299D-0A3C-411E-DD57-A7FB01AC7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5DF64-EE83-6254-EFDE-D0FE506E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49CAD-A4A4-D8D5-256E-B1F50AC3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6896B-09B6-3AD3-1CE3-B7EBB3C3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94E4-6B13-CCD0-5DD6-1C6C3648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CDC02-FEF5-CD59-69C9-E3D860904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36435-423D-D5E8-B59E-D2A27A2EB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10CF9-8F60-FF87-5CE9-81029BE9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12605-C875-78D7-FFAA-0090ADDD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7D153-88AD-FF35-4BDB-70A4A5B2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1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0538-6F70-687F-5C5F-6208A93C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0E616-5321-AC9F-8E9F-C208DFAE1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B9A0B-54E7-2106-3AF3-E06ACF16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4DE0F-629A-3B86-226D-C6B0C477A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C5E77-6D7E-9813-9458-FB8EF2D14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C6657F-A620-447F-8C25-72958408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2C70E-8244-6A57-AAC8-4A8BEFC3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AB57A-1A08-BA25-63C0-2D826049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13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0061-C89A-A3C2-E9D3-724AF766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BDF81-B2D5-7AF9-ADA4-E3121CE6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6E588-5D4B-627A-A7AD-052A8E5F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126D5-C860-DC6B-13C1-41826C12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5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84000-4C47-7460-DDAC-ED8E1454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A6DAE-F2C1-67B5-B124-798EF5DA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E9D6C-C02B-5A63-D4D6-20DE10CEF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0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E1C4-ADE3-F2DA-15F9-16E9A5155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F1B88-5522-516B-62E6-CCEC6A2B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624C7-AE2E-5085-E63D-E1DADB016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0B2BC-CEA2-BF8F-06A2-0A311EABA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62503-6A9C-DEB4-C394-BADC46A3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DF9DB-B708-A5EA-D8F3-62B39379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4649-BF44-78B1-A70A-EAD1D289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DAB9E-CD8A-5267-CE73-45F9ABB05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CF5B2-703A-CEF4-626F-9156A07C5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5A01C-D3AA-49C3-EB4D-CEDC701B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F52A8-C6C3-9CB7-8356-FEC0125A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63BD6-7778-33F0-EBEE-E5574C90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3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4613-FB29-F14C-2B4F-5277B755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61654-6453-43C1-19F4-EAC54A2A4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A1CD2-1EB4-46F4-A0D3-2671671AA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A49CF-33FF-2332-F6E2-88AA4DA7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21F01-8EC8-3C7E-A442-4362D138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5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415E99-F71B-A25B-F3A6-22674EE8F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48D60-5109-4697-D215-135130FD4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F2533-E416-1705-518C-23A35249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EC1AA-1AFA-388A-BB94-434A77D3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9026-BECF-06EF-3645-867DE83A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0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ED4E6-DAA3-BE76-921B-2546A73B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0B5E5-6D3F-4AE5-15D3-C14C80E92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CBEBC-D3D3-99F0-7076-B9892D581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4D4C-1D1C-43D4-9DE4-A21D3057575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8AA90-A0AB-FD36-706B-69BE4F7D0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D82B3-4B7E-FA57-E610-32127608C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D9717-7480-4F06-9A84-3EF5FB987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4139C811-06C5-EF97-B8EB-C596292D64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66916" y="989906"/>
            <a:ext cx="106778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 Silent Shift: How Declining Fertility Is Reshaping Society, Politics, and Migration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AE02ECCC-97CE-9CBF-0F82-7D8F51C822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95948" y="4449778"/>
            <a:ext cx="79051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empty classrooms and aging populations to immigration pipelines and mental health strain, low birth rates are quietly rewriting the structure of modern life.</a:t>
            </a:r>
          </a:p>
        </p:txBody>
      </p:sp>
    </p:spTree>
    <p:extLst>
      <p:ext uri="{BB962C8B-B14F-4D97-AF65-F5344CB8AC3E}">
        <p14:creationId xmlns:p14="http://schemas.microsoft.com/office/powerpoint/2010/main" val="27057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8DF0-4695-2699-6C86-AAAF1130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your focus area?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AE2D4-A822-2E1A-C2F6-83A1B5E27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484670"/>
            <a:ext cx="11336594" cy="484730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This project investigates the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ripple effects of falling fertility rates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across global societies. While many countries face economic consequences like labor shortages and shrinking tax bases, the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social and political impacts are just as urgent and far-reaching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analysis focuses on how low fertility is connected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Intergenerational tensions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the risk of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political instability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as younger populations shrink and struggle to support a growing elderly population.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Transformations in family structures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with fewer children per household and rising rates of social isolation.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School system challenges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where fewer births mean smaller enrollments, reduced funding, and school closures  pushing the burden to local governments.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Mental health trends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as societal shifts in identity, purpose, and connection affect emotional well-being across age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U.S. immigration policy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particularly the Diversity Visa Lottery, which becomes a demographic solution  importing youth and labor from high-fertility nations.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Together, these factors paint a picture of a world quietly but profoundly changed by one statistic: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how many children we’re having  or not having.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49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8F8B-7C78-3EED-2339-FE3F109A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790" y="219180"/>
            <a:ext cx="9224131" cy="134046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The Long Decline: Global Fertility Rates Fall from 2000 to 2020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E94FF-E212-27B7-DC94-73624F96C346}"/>
              </a:ext>
            </a:extLst>
          </p:cNvPr>
          <p:cNvSpPr/>
          <p:nvPr/>
        </p:nvSpPr>
        <p:spPr>
          <a:xfrm>
            <a:off x="459166" y="1927123"/>
            <a:ext cx="5105892" cy="38752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Replace</a:t>
            </a:r>
            <a:r>
              <a:rPr lang="en-US" dirty="0"/>
              <a:t> this box with your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resize/move this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add “hand-drawn” annotations to the visualization</a:t>
            </a:r>
          </a:p>
        </p:txBody>
      </p:sp>
      <p:pic>
        <p:nvPicPr>
          <p:cNvPr id="6" name="slide2" descr="Line Chart">
            <a:extLst>
              <a:ext uri="{FF2B5EF4-FFF2-40B4-BE49-F238E27FC236}">
                <a16:creationId xmlns:a16="http://schemas.microsoft.com/office/drawing/2014/main" id="{8E29D686-E53B-05DA-A664-D88CCD869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44" y="1716863"/>
            <a:ext cx="6224146" cy="451986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902DD06E-984F-0B7F-A9C7-FFCF2E667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090" y="1116698"/>
            <a:ext cx="54972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line chart shows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fertility rate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2000 to 2020 across six countries. Each line represents one country’s average number of births per woman over time.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7B99E9D-F950-78BF-3F4C-091F5EAAB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090" y="2339935"/>
            <a:ext cx="53415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Across all countries including both developed and developing  fertility rates have consistently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declined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 the past two decades.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 nations with historically high birth rates like Nigeria and India are experiencing this trend.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global convergence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suggests a systemic demographic shift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broad implications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education, labor, and economic sustainability.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BB1771-814D-5518-3B28-687A89741295}"/>
              </a:ext>
            </a:extLst>
          </p:cNvPr>
          <p:cNvSpPr txBox="1"/>
          <p:nvPr/>
        </p:nvSpPr>
        <p:spPr>
          <a:xfrm>
            <a:off x="6794090" y="4648259"/>
            <a:ext cx="54193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Arial" panose="020B0604020202020204" pitchFamily="34" charset="0"/>
              </a:rPr>
              <a:t>The decline in fertility isn’t just a number  it signals shrinking future populations, strained pension systems, and the need for new policies around </a:t>
            </a:r>
            <a:r>
              <a:rPr lang="en-US" b="1" dirty="0">
                <a:cs typeface="Arial" panose="020B0604020202020204" pitchFamily="34" charset="0"/>
              </a:rPr>
              <a:t>immigration, automation, and caregiving</a:t>
            </a:r>
            <a:r>
              <a:rPr lang="en-US" dirty="0">
                <a:cs typeface="Arial" panose="020B0604020202020204" pitchFamily="34" charset="0"/>
              </a:rPr>
              <a:t>.</a:t>
            </a:r>
            <a:br>
              <a:rPr lang="en-US" dirty="0"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Understanding this early warning sign is key to preparing for the </a:t>
            </a:r>
            <a:r>
              <a:rPr lang="en-US" b="1" dirty="0">
                <a:cs typeface="Arial" panose="020B0604020202020204" pitchFamily="34" charset="0"/>
              </a:rPr>
              <a:t>next 20 years of societal transformation</a:t>
            </a:r>
            <a:r>
              <a:rPr lang="en-US" dirty="0">
                <a:cs typeface="Arial" panose="020B0604020202020204" pitchFamily="34" charset="0"/>
              </a:rPr>
              <a:t>.</a:t>
            </a:r>
            <a:endParaRPr lang="en-IN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57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8F8B-7C78-3EED-2339-FE3F109A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97" y="133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Vanishing Classrooms: School-Age Populations Shrink as Fertility Falls (2020)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E94FF-E212-27B7-DC94-73624F96C346}"/>
              </a:ext>
            </a:extLst>
          </p:cNvPr>
          <p:cNvSpPr/>
          <p:nvPr/>
        </p:nvSpPr>
        <p:spPr>
          <a:xfrm>
            <a:off x="258097" y="1710813"/>
            <a:ext cx="5636997" cy="434018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Replace</a:t>
            </a:r>
            <a:r>
              <a:rPr lang="en-US" dirty="0"/>
              <a:t> this box with your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resize/move this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add “hand-drawn” annotations to the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FE5C1-782C-220E-B67F-45D6132C88A1}"/>
              </a:ext>
            </a:extLst>
          </p:cNvPr>
          <p:cNvSpPr txBox="1"/>
          <p:nvPr/>
        </p:nvSpPr>
        <p:spPr>
          <a:xfrm>
            <a:off x="6169088" y="1446939"/>
            <a:ext cx="6022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dual bar chart compares each country’s </a:t>
            </a:r>
            <a:r>
              <a:rPr lang="en-US" b="1" dirty="0"/>
              <a:t>fertility rate</a:t>
            </a:r>
            <a:r>
              <a:rPr lang="en-US" dirty="0"/>
              <a:t> to its </a:t>
            </a:r>
            <a:r>
              <a:rPr lang="en-US" b="1" dirty="0"/>
              <a:t>school-age population share</a:t>
            </a:r>
            <a:r>
              <a:rPr lang="en-US" dirty="0"/>
              <a:t> in 2020.</a:t>
            </a:r>
            <a:br>
              <a:rPr lang="en-US" dirty="0"/>
            </a:br>
            <a:r>
              <a:rPr lang="en-US" dirty="0"/>
              <a:t>Countries like the </a:t>
            </a:r>
            <a:r>
              <a:rPr lang="en-US" b="1" dirty="0"/>
              <a:t>U.S.</a:t>
            </a:r>
            <a:r>
              <a:rPr lang="en-US" dirty="0"/>
              <a:t>, </a:t>
            </a:r>
            <a:r>
              <a:rPr lang="en-US" b="1" dirty="0"/>
              <a:t>Japan</a:t>
            </a:r>
            <a:r>
              <a:rPr lang="en-US" dirty="0"/>
              <a:t>, and </a:t>
            </a:r>
            <a:r>
              <a:rPr lang="en-US" b="1" dirty="0"/>
              <a:t>Germany</a:t>
            </a:r>
            <a:r>
              <a:rPr lang="en-US" dirty="0"/>
              <a:t> show both </a:t>
            </a:r>
            <a:r>
              <a:rPr lang="en-US" b="1" dirty="0"/>
              <a:t>low fertility</a:t>
            </a:r>
            <a:r>
              <a:rPr lang="en-US" dirty="0"/>
              <a:t> and a </a:t>
            </a:r>
            <a:r>
              <a:rPr lang="en-US" b="1" dirty="0"/>
              <a:t>smaller share of youth</a:t>
            </a:r>
            <a:r>
              <a:rPr lang="en-US" dirty="0"/>
              <a:t>, signaling a sharp decline in future school enrollments.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C202B-B70E-6DDC-CBCF-17F5928BFE25}"/>
              </a:ext>
            </a:extLst>
          </p:cNvPr>
          <p:cNvSpPr txBox="1"/>
          <p:nvPr/>
        </p:nvSpPr>
        <p:spPr>
          <a:xfrm>
            <a:off x="6096001" y="2911681"/>
            <a:ext cx="60229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connection is direct and undeniable: </a:t>
            </a:r>
            <a:r>
              <a:rPr lang="en-US" b="1" dirty="0"/>
              <a:t>fewer births mean fewer students</a:t>
            </a:r>
            <a:r>
              <a:rPr lang="en-US" dirty="0"/>
              <a:t>, which ultimately leads to </a:t>
            </a:r>
            <a:r>
              <a:rPr lang="en-US" b="1" dirty="0"/>
              <a:t>smaller schools, reduced budgets, and staff reductions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isn’t a distant future scenario it’s already happening in countries like </a:t>
            </a:r>
            <a:r>
              <a:rPr lang="en-US" b="1" dirty="0"/>
              <a:t>Japan</a:t>
            </a:r>
            <a:r>
              <a:rPr lang="en-US" dirty="0"/>
              <a:t>, </a:t>
            </a:r>
            <a:r>
              <a:rPr lang="en-US" b="1" dirty="0"/>
              <a:t>Germany</a:t>
            </a:r>
            <a:r>
              <a:rPr lang="en-US" dirty="0"/>
              <a:t>, and the </a:t>
            </a:r>
            <a:r>
              <a:rPr lang="en-US" b="1" dirty="0"/>
              <a:t>United States</a:t>
            </a:r>
            <a:r>
              <a:rPr lang="en-US" dirty="0"/>
              <a:t>, where school districts are merging, closing, or struggling to justify their operating costs.</a:t>
            </a:r>
            <a:br>
              <a:rPr lang="en-US" dirty="0"/>
            </a:br>
            <a:r>
              <a:rPr lang="en-US" dirty="0"/>
              <a:t>What was once called the </a:t>
            </a:r>
            <a:r>
              <a:rPr lang="en-US" b="1" dirty="0"/>
              <a:t>“youth bulge”</a:t>
            </a:r>
            <a:r>
              <a:rPr lang="en-US" dirty="0"/>
              <a:t> has, in many places, reversed into a </a:t>
            </a:r>
            <a:r>
              <a:rPr lang="en-US" b="1" dirty="0"/>
              <a:t>“youth drought.”</a:t>
            </a:r>
            <a:br>
              <a:rPr lang="en-US" dirty="0"/>
            </a:br>
            <a:r>
              <a:rPr lang="en-US" dirty="0"/>
              <a:t>This shift will not only impact education systems it will also affect real estate, local economies, and the future availability of talent for the workforce.</a:t>
            </a:r>
          </a:p>
        </p:txBody>
      </p:sp>
      <p:pic>
        <p:nvPicPr>
          <p:cNvPr id="6" name="slide3" descr="Bar Chart">
            <a:extLst>
              <a:ext uri="{FF2B5EF4-FFF2-40B4-BE49-F238E27FC236}">
                <a16:creationId xmlns:a16="http://schemas.microsoft.com/office/drawing/2014/main" id="{2C6DA0FC-82F2-5AF2-C0E3-29ED79D60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97" y="1590076"/>
            <a:ext cx="5764817" cy="486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45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8F8B-7C78-3EED-2339-FE3F109A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1" y="180895"/>
            <a:ext cx="12841256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The Age of Instability? Exploring the Link Between Aging Populations and Political Tension (2020)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E94FF-E212-27B7-DC94-73624F96C346}"/>
              </a:ext>
            </a:extLst>
          </p:cNvPr>
          <p:cNvSpPr/>
          <p:nvPr/>
        </p:nvSpPr>
        <p:spPr>
          <a:xfrm>
            <a:off x="421805" y="1939007"/>
            <a:ext cx="4964308" cy="353756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Replace</a:t>
            </a:r>
            <a:r>
              <a:rPr lang="en-US" dirty="0"/>
              <a:t> this box with your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resize/move this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add “hand-drawn” annotations to the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FE5C1-782C-220E-B67F-45D6132C88A1}"/>
              </a:ext>
            </a:extLst>
          </p:cNvPr>
          <p:cNvSpPr txBox="1"/>
          <p:nvPr/>
        </p:nvSpPr>
        <p:spPr>
          <a:xfrm>
            <a:off x="5968835" y="1680798"/>
            <a:ext cx="56741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scatter plot compares each country’s </a:t>
            </a:r>
            <a:r>
              <a:rPr lang="en-US" b="1" dirty="0"/>
              <a:t>elderly population share</a:t>
            </a:r>
            <a:r>
              <a:rPr lang="en-US" dirty="0"/>
              <a:t> to its </a:t>
            </a:r>
            <a:r>
              <a:rPr lang="en-US" b="1" dirty="0"/>
              <a:t>political stability index</a:t>
            </a:r>
            <a:r>
              <a:rPr lang="en-US" dirty="0"/>
              <a:t> in 2020.</a:t>
            </a:r>
            <a:br>
              <a:rPr lang="en-US" dirty="0"/>
            </a:br>
            <a:r>
              <a:rPr lang="en-US" dirty="0"/>
              <a:t>It suggests a subtle but important pattern: nations with </a:t>
            </a:r>
            <a:r>
              <a:rPr lang="en-US" b="1" dirty="0"/>
              <a:t>older populations</a:t>
            </a:r>
            <a:r>
              <a:rPr lang="en-US" dirty="0"/>
              <a:t>, like the </a:t>
            </a:r>
            <a:r>
              <a:rPr lang="en-US" b="1" dirty="0"/>
              <a:t>U.S.</a:t>
            </a:r>
            <a:r>
              <a:rPr lang="en-US" dirty="0"/>
              <a:t> and </a:t>
            </a:r>
            <a:r>
              <a:rPr lang="en-US" b="1" dirty="0"/>
              <a:t>Brazil</a:t>
            </a:r>
            <a:r>
              <a:rPr lang="en-US" dirty="0"/>
              <a:t>, may be </a:t>
            </a:r>
            <a:r>
              <a:rPr lang="en-US" b="1" dirty="0"/>
              <a:t>less politically stable</a:t>
            </a:r>
            <a:r>
              <a:rPr lang="en-US" dirty="0"/>
              <a:t> than peers like </a:t>
            </a:r>
            <a:r>
              <a:rPr lang="en-US" b="1" dirty="0"/>
              <a:t>Japan</a:t>
            </a:r>
            <a:r>
              <a:rPr lang="en-US" dirty="0"/>
              <a:t>, which has managed aging more smoothly.</a:t>
            </a:r>
          </a:p>
        </p:txBody>
      </p:sp>
      <p:pic>
        <p:nvPicPr>
          <p:cNvPr id="6" name="slide4" descr="Scatter Plot">
            <a:extLst>
              <a:ext uri="{FF2B5EF4-FFF2-40B4-BE49-F238E27FC236}">
                <a16:creationId xmlns:a16="http://schemas.microsoft.com/office/drawing/2014/main" id="{FFB8B5BD-71D7-5D8C-95F2-82814427A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1" y="1469152"/>
            <a:ext cx="5674194" cy="4876799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1B94BEB-B22E-1F6C-60BF-607261C72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894" y="3609464"/>
            <a:ext cx="645225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 birth rates fall and generations age, political systems face new stressors  from budget battles over pensions to clashes in generational values.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visual hints at a deeper story: when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young people are outnumbered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democratic energy can fade,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intergenerational tension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may rise.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Aging alone doesn’t cause instability  but it may be the fuel for larger political shifts.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5397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2424-0C74-CBAE-DE54-1013DD3F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8F4B-199F-8080-9253-DAB08EE2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8" y="94169"/>
            <a:ext cx="12841256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A Lifeline Through Immigration: Diversity Lottery Entrants by Country (2020)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9F14F3-FC6E-3053-B940-600DA21C21B3}"/>
              </a:ext>
            </a:extLst>
          </p:cNvPr>
          <p:cNvSpPr/>
          <p:nvPr/>
        </p:nvSpPr>
        <p:spPr>
          <a:xfrm>
            <a:off x="421805" y="1939007"/>
            <a:ext cx="4964308" cy="353756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Replace</a:t>
            </a:r>
            <a:r>
              <a:rPr lang="en-US" dirty="0"/>
              <a:t> this box with your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resize/move this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add “hand-drawn” annotations to the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D0863-7689-63EA-3341-754E40D82EEE}"/>
              </a:ext>
            </a:extLst>
          </p:cNvPr>
          <p:cNvSpPr txBox="1"/>
          <p:nvPr/>
        </p:nvSpPr>
        <p:spPr>
          <a:xfrm>
            <a:off x="6203173" y="1019358"/>
            <a:ext cx="6066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map shows how many individuals from each country entered the United States through the </a:t>
            </a:r>
            <a:r>
              <a:rPr lang="en-US" b="1" dirty="0"/>
              <a:t>Diversity Visa Lottery</a:t>
            </a:r>
            <a:r>
              <a:rPr lang="en-US" dirty="0"/>
              <a:t> program in 2020.</a:t>
            </a:r>
            <a:br>
              <a:rPr lang="en-US" dirty="0"/>
            </a:br>
            <a:r>
              <a:rPr lang="en-US" dirty="0"/>
              <a:t>Notably, </a:t>
            </a:r>
            <a:r>
              <a:rPr lang="en-US" b="1" dirty="0"/>
              <a:t>high-fertility nations</a:t>
            </a:r>
            <a:r>
              <a:rPr lang="en-US" dirty="0"/>
              <a:t> like </a:t>
            </a:r>
            <a:r>
              <a:rPr lang="en-US" b="1" dirty="0"/>
              <a:t>India</a:t>
            </a:r>
            <a:r>
              <a:rPr lang="en-US" dirty="0"/>
              <a:t> and </a:t>
            </a:r>
            <a:r>
              <a:rPr lang="en-US" b="1" dirty="0"/>
              <a:t>Nigeria</a:t>
            </a:r>
            <a:r>
              <a:rPr lang="en-US" dirty="0"/>
              <a:t>, as well as </a:t>
            </a:r>
            <a:r>
              <a:rPr lang="en-US" b="1" dirty="0"/>
              <a:t>low-fertility countries</a:t>
            </a:r>
            <a:r>
              <a:rPr lang="en-US" dirty="0"/>
              <a:t> like </a:t>
            </a:r>
            <a:r>
              <a:rPr lang="en-US" b="1" dirty="0"/>
              <a:t>Germany</a:t>
            </a:r>
            <a:r>
              <a:rPr lang="en-US" dirty="0"/>
              <a:t> and </a:t>
            </a:r>
            <a:r>
              <a:rPr lang="en-US" b="1" dirty="0"/>
              <a:t>Japan</a:t>
            </a:r>
            <a:r>
              <a:rPr lang="en-US" dirty="0"/>
              <a:t>, all appear as major contributors.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2546067-CEA4-A448-80D4-9FB964023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497" y="4455507"/>
            <a:ext cx="60665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dirty="0"/>
              <a:t>In a world where some countries are </a:t>
            </a:r>
            <a:r>
              <a:rPr lang="en-US" b="1" dirty="0"/>
              <a:t>running out of people</a:t>
            </a:r>
            <a:r>
              <a:rPr lang="en-US" dirty="0"/>
              <a:t>, and others have </a:t>
            </a:r>
            <a:r>
              <a:rPr lang="en-US" b="1" dirty="0"/>
              <a:t>too few opportunities</a:t>
            </a:r>
            <a:r>
              <a:rPr lang="en-US" dirty="0"/>
              <a:t> for their growing youth, immigration becomes a </a:t>
            </a:r>
            <a:r>
              <a:rPr lang="en-US" b="1" dirty="0"/>
              <a:t>bridge</a:t>
            </a:r>
            <a:r>
              <a:rPr lang="en-US" dirty="0"/>
              <a:t> economically, socially, and demographically.</a:t>
            </a:r>
          </a:p>
          <a:p>
            <a:r>
              <a:rPr lang="en-US" dirty="0"/>
              <a:t>The </a:t>
            </a:r>
            <a:r>
              <a:rPr lang="en-US" b="1" dirty="0"/>
              <a:t>Diversity Lottery</a:t>
            </a:r>
            <a:r>
              <a:rPr lang="en-US" dirty="0"/>
              <a:t> may be one of the </a:t>
            </a:r>
            <a:r>
              <a:rPr lang="en-US" b="1" dirty="0"/>
              <a:t>least-discussed mechanisms</a:t>
            </a:r>
            <a:r>
              <a:rPr lang="en-US" dirty="0"/>
              <a:t> by which the U.S. offsets its population decline, sustains school systems, fills labor shortages, and even shapes </a:t>
            </a:r>
            <a:r>
              <a:rPr lang="en-US" b="1" dirty="0"/>
              <a:t>future voter demographics</a:t>
            </a:r>
            <a:r>
              <a:rPr lang="en-US" dirty="0"/>
              <a:t>.</a:t>
            </a:r>
          </a:p>
        </p:txBody>
      </p:sp>
      <p:pic>
        <p:nvPicPr>
          <p:cNvPr id="7" name="slide5" descr="Map">
            <a:extLst>
              <a:ext uri="{FF2B5EF4-FFF2-40B4-BE49-F238E27FC236}">
                <a16:creationId xmlns:a16="http://schemas.microsoft.com/office/drawing/2014/main" id="{6F235932-F4DF-5DA6-4A33-6295D0F50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8" y="1592824"/>
            <a:ext cx="5909187" cy="48178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2D3917-2109-D210-657C-7EED1F1CFC4C}"/>
              </a:ext>
            </a:extLst>
          </p:cNvPr>
          <p:cNvSpPr txBox="1"/>
          <p:nvPr/>
        </p:nvSpPr>
        <p:spPr>
          <a:xfrm>
            <a:off x="6125497" y="2754449"/>
            <a:ext cx="59868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Countries like </a:t>
            </a:r>
            <a:r>
              <a:rPr lang="en-US" b="1" dirty="0"/>
              <a:t>India</a:t>
            </a:r>
            <a:r>
              <a:rPr lang="en-US" dirty="0"/>
              <a:t> and </a:t>
            </a:r>
            <a:r>
              <a:rPr lang="en-US" b="1" dirty="0"/>
              <a:t>Nigeria</a:t>
            </a:r>
            <a:r>
              <a:rPr lang="en-US" dirty="0"/>
              <a:t>, with their still-growing populations, represent a steady source of </a:t>
            </a:r>
            <a:r>
              <a:rPr lang="en-US" b="1" dirty="0"/>
              <a:t>young, working-age immigrants</a:t>
            </a:r>
            <a:r>
              <a:rPr lang="en-US" dirty="0"/>
              <a:t>. But the inclusion of </a:t>
            </a:r>
            <a:r>
              <a:rPr lang="en-US" b="1" dirty="0"/>
              <a:t>Germany</a:t>
            </a:r>
            <a:r>
              <a:rPr lang="en-US" dirty="0"/>
              <a:t> and </a:t>
            </a:r>
            <a:r>
              <a:rPr lang="en-US" b="1" dirty="0"/>
              <a:t>Japan</a:t>
            </a:r>
            <a:r>
              <a:rPr lang="en-US" dirty="0"/>
              <a:t>  nations with some of the </a:t>
            </a:r>
            <a:r>
              <a:rPr lang="en-US" b="1" dirty="0"/>
              <a:t>lowest fertility rates and oldest populations</a:t>
            </a:r>
            <a:r>
              <a:rPr lang="en-US" dirty="0"/>
              <a:t>  reveals something deeper even </a:t>
            </a:r>
            <a:r>
              <a:rPr lang="en-US" b="1" dirty="0"/>
              <a:t>aging nations are exporting people</a:t>
            </a:r>
            <a:r>
              <a:rPr lang="en-US" dirty="0"/>
              <a:t> as economic opportunity shifts.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66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0FAF-9016-EB9E-E714-ABA1DB95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6E4B2C-F06B-5195-7173-93E63F3C459E}"/>
              </a:ext>
            </a:extLst>
          </p:cNvPr>
          <p:cNvSpPr/>
          <p:nvPr/>
        </p:nvSpPr>
        <p:spPr>
          <a:xfrm>
            <a:off x="421805" y="1939007"/>
            <a:ext cx="4964308" cy="353756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Replace</a:t>
            </a:r>
            <a:r>
              <a:rPr lang="en-US" dirty="0"/>
              <a:t> this box with your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resize/move this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Feel free to add “hand-drawn” annotations to the 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5B75A-AD19-3029-E74B-D33EECB0D074}"/>
              </a:ext>
            </a:extLst>
          </p:cNvPr>
          <p:cNvSpPr txBox="1"/>
          <p:nvPr/>
        </p:nvSpPr>
        <p:spPr>
          <a:xfrm>
            <a:off x="6047819" y="3041015"/>
            <a:ext cx="59868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viewed together, these indicators create a </a:t>
            </a:r>
            <a:r>
              <a:rPr lang="en-US" b="1" dirty="0"/>
              <a:t>multi-layered view of societal strain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Countries like the </a:t>
            </a:r>
            <a:r>
              <a:rPr lang="en-US" b="1" dirty="0"/>
              <a:t>USA</a:t>
            </a:r>
            <a:r>
              <a:rPr lang="en-US" dirty="0"/>
              <a:t>, </a:t>
            </a:r>
            <a:r>
              <a:rPr lang="en-US" b="1" dirty="0"/>
              <a:t>Germany</a:t>
            </a:r>
            <a:r>
              <a:rPr lang="en-US" dirty="0"/>
              <a:t>, and </a:t>
            </a:r>
            <a:r>
              <a:rPr lang="en-US" b="1" dirty="0"/>
              <a:t>Japan</a:t>
            </a:r>
            <a:r>
              <a:rPr lang="en-US" dirty="0"/>
              <a:t> face a dangerous cocktail of </a:t>
            </a:r>
            <a:r>
              <a:rPr lang="en-US" b="1" dirty="0"/>
              <a:t>aging populations, low fertility, rising mental health concerns</a:t>
            </a:r>
            <a:r>
              <a:rPr lang="en-US" dirty="0"/>
              <a:t>, and in some cases, </a:t>
            </a:r>
            <a:r>
              <a:rPr lang="en-US" b="1" dirty="0"/>
              <a:t>weakened political stability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Meanwhile, even countries like </a:t>
            </a:r>
            <a:r>
              <a:rPr lang="en-US" b="1" dirty="0"/>
              <a:t>India</a:t>
            </a:r>
            <a:r>
              <a:rPr lang="en-US" dirty="0"/>
              <a:t> and </a:t>
            </a:r>
            <a:r>
              <a:rPr lang="en-US" b="1" dirty="0"/>
              <a:t>Nigeria</a:t>
            </a:r>
            <a:r>
              <a:rPr lang="en-US" dirty="0"/>
              <a:t>, though younger, are not immune to emotional and social stressors.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takeaway: Fertility decline doesn't act alone  it sets off </a:t>
            </a:r>
            <a:r>
              <a:rPr lang="en-US" b="1" dirty="0"/>
              <a:t>a chain reaction</a:t>
            </a:r>
            <a:r>
              <a:rPr lang="en-US" dirty="0"/>
              <a:t> that ripples through public health, governance, and the fabric of society.</a:t>
            </a: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FC36B4C-9EB3-0C24-A2FB-61B58FEF6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1805" y="94169"/>
            <a:ext cx="1263550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The Global Pressure Matrix: Fertility, Aging, Mental Health, and Instability (2020)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3D8B05F0-4560-DFA9-FC7F-8DC7C11B6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497" y="1286689"/>
            <a:ext cx="59091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heat map compares six countries across four major indicators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demographic and societal stress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Elderly Population (%), Fertility Rate, Political Stability,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Reported Mental Health Incidents (%).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Darker shades reflect greater pressure or concern across each dimension.</a:t>
            </a:r>
          </a:p>
        </p:txBody>
      </p:sp>
      <p:pic>
        <p:nvPicPr>
          <p:cNvPr id="5127" name="Picture 7" descr="Uploaded image">
            <a:extLst>
              <a:ext uri="{FF2B5EF4-FFF2-40B4-BE49-F238E27FC236}">
                <a16:creationId xmlns:a16="http://schemas.microsoft.com/office/drawing/2014/main" id="{5BFB83BC-9241-CD5A-D213-E3D7028A2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15" y="1475669"/>
            <a:ext cx="5890501" cy="498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720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536ED39-180B-7627-F499-DE2913E5B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3123" y="184498"/>
            <a:ext cx="1130709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Conclusion: A Future Shaped by Fewer Births and Growing Consequences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9F2CB-8A36-A2B3-82E8-032B24472433}"/>
              </a:ext>
            </a:extLst>
          </p:cNvPr>
          <p:cNvSpPr txBox="1"/>
          <p:nvPr/>
        </p:nvSpPr>
        <p:spPr>
          <a:xfrm>
            <a:off x="403123" y="1454011"/>
            <a:ext cx="117102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Declining fertility rates are no longer just a demographic trend  they are a global disruptor.</a:t>
            </a:r>
          </a:p>
          <a:p>
            <a:pPr>
              <a:buNone/>
            </a:pPr>
            <a:r>
              <a:rPr lang="en-US" sz="2000" dirty="0"/>
              <a:t>Through the lens of these visualizations, we explored how this one shift influences multiple systems:</a:t>
            </a:r>
          </a:p>
          <a:p>
            <a:pPr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Education systems are shrinking as school-age populations decline.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Aging societies are straining pension systems and increasing dependency ratios.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Mental health challenges are rising, tied to isolation and changing family structures.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Political stability may weaken as generational tensions grow.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Immigration programs, like the U.S. Diversity Lottery, are becoming quiet solutions to population decline.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E7EE9-0875-7463-5C85-42CDFCF85D5C}"/>
              </a:ext>
            </a:extLst>
          </p:cNvPr>
          <p:cNvSpPr txBox="1"/>
          <p:nvPr/>
        </p:nvSpPr>
        <p:spPr>
          <a:xfrm>
            <a:off x="403123" y="5350063"/>
            <a:ext cx="110465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As countries navigate these pressures, one thing is clear:</a:t>
            </a:r>
            <a:br>
              <a:rPr lang="en-US" sz="2000" dirty="0"/>
            </a:br>
            <a:r>
              <a:rPr lang="en-US" sz="2000" dirty="0"/>
              <a:t>Without action, many will become older, smaller, and more vulnerable.</a:t>
            </a:r>
            <a:br>
              <a:rPr lang="en-US" sz="2000" dirty="0"/>
            </a:br>
            <a:r>
              <a:rPr lang="en-US" sz="2000" dirty="0"/>
              <a:t>But with the right policies  in education, mental health, and immigration  there is still time to adapt and reshape what comes next.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6911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1341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The Silent Shift: How Declining Fertility Is Reshaping Society, Politics, and Migration</vt:lpstr>
      <vt:lpstr>What is your focus area?</vt:lpstr>
      <vt:lpstr>The Long Decline: Global Fertility Rates Fall from 2000 to 2020</vt:lpstr>
      <vt:lpstr>Vanishing Classrooms: School-Age Populations Shrink as Fertility Falls (2020)</vt:lpstr>
      <vt:lpstr>The Age of Instability? Exploring the Link Between Aging Populations and Political Tension (2020)</vt:lpstr>
      <vt:lpstr>A Lifeline Through Immigration: Diversity Lottery Entrants by Country (2020)</vt:lpstr>
      <vt:lpstr>The Global Pressure Matrix: Fertility, Aging, Mental Health, and Instability (2020)</vt:lpstr>
      <vt:lpstr>Conclusion: A Future Shaped by Fewer Births and Growing Consequences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 interesting and alluring title)</dc:title>
  <dc:creator>Merete Hvalshagen</dc:creator>
  <cp:lastModifiedBy>Pavan Kumar</cp:lastModifiedBy>
  <cp:revision>3</cp:revision>
  <dcterms:created xsi:type="dcterms:W3CDTF">2024-04-12T14:40:13Z</dcterms:created>
  <dcterms:modified xsi:type="dcterms:W3CDTF">2025-04-02T18:34:38Z</dcterms:modified>
</cp:coreProperties>
</file>